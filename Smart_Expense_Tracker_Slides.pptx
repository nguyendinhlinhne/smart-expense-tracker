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0152" cy="2286000"/>
          </a:xfrm>
          <a:prstGeom prst="rect">
            <a:avLst/>
          </a:prstGeom>
          <a:noFill/>
        </p:spPr>
        <p:txBody>
          <a:bodyPr wrap="square">
            <a:spAutoFit/>
          </a:bodyPr>
          <a:lstStyle/>
          <a:p>
            <a:pPr algn="l">
              <a:defRPr sz="4400" b="1">
                <a:solidFill>
                  <a:srgbClr val="6366F1"/>
                </a:solidFill>
                <a:latin typeface="Outfit"/>
              </a:defRPr>
            </a:pPr>
            <a:r>
              <a:t>SMART EXPENSE TRACKER</a:t>
            </a:r>
          </a:p>
          <a:p>
            <a:pPr algn="l">
              <a:defRPr sz="2200" b="1">
                <a:solidFill>
                  <a:srgbClr val="FFFFFF"/>
                </a:solidFill>
                <a:latin typeface="Inter"/>
              </a:defRPr>
            </a:pPr>
            <a:r>
              <a:t>Hệ thống quản lý chi tiêu thông minh tích hợp Trí tuệ Nhân tạo (AI)</a:t>
            </a:r>
          </a:p>
        </p:txBody>
      </p:sp>
      <p:sp>
        <p:nvSpPr>
          <p:cNvPr id="4" name="TextBox 3"/>
          <p:cNvSpPr txBox="1"/>
          <p:nvPr/>
        </p:nvSpPr>
        <p:spPr>
          <a:xfrm>
            <a:off x="914400" y="4114800"/>
            <a:ext cx="9144000" cy="1645920"/>
          </a:xfrm>
          <a:prstGeom prst="rect">
            <a:avLst/>
          </a:prstGeom>
          <a:noFill/>
        </p:spPr>
        <p:txBody>
          <a:bodyPr wrap="square">
            <a:spAutoFit/>
          </a:bodyPr>
          <a:lstStyle/>
          <a:p>
            <a:pPr>
              <a:defRPr sz="1400">
                <a:solidFill>
                  <a:srgbClr val="94A3B8"/>
                </a:solidFill>
                <a:latin typeface="Inter"/>
              </a:defRPr>
            </a:pPr>
            <a:r>
              <a:t>Sinh viên thực hiện: Nguyễn Đình Linh - MSV: 20521234</a:t>
            </a:r>
          </a:p>
          <a:p>
            <a:pPr>
              <a:defRPr sz="1400">
                <a:solidFill>
                  <a:srgbClr val="94A3B8"/>
                </a:solidFill>
                <a:latin typeface="Inter"/>
              </a:defRPr>
            </a:pPr>
            <a:r>
              <a:t>Giảng viên hướng dẫn: TS. Phạm Văn X</a:t>
            </a:r>
            <a:br/>
            <a:r>
              <a:t>Bộ môn: Hệ thống Thông tin - Trường Đại học Công nghệ Thông 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1. ĐẶT VẤN ĐỀ &amp; LÝ DO CHỌN ĐỀ TÀI</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0972800" cy="4572000"/>
          </a:xfrm>
          <a:prstGeom prst="rect">
            <a:avLst/>
          </a:prstGeom>
          <a:noFill/>
        </p:spPr>
        <p:txBody>
          <a:bodyPr wrap="square">
            <a:spAutoFit/>
          </a:bodyPr>
          <a:lstStyle/>
          <a:p>
            <a:pPr>
              <a:spcAft>
                <a:spcPts val="1400"/>
              </a:spcAft>
            </a:pPr>
            <a:r>
              <a:rPr sz="1600" b="1">
                <a:solidFill>
                  <a:srgbClr val="10B981"/>
                </a:solidFill>
                <a:latin typeface="Inter"/>
              </a:rPr>
              <a:t>Nhu cầu cấp bách: </a:t>
            </a:r>
            <a:r>
              <a:rPr sz="1600">
                <a:solidFill>
                  <a:srgbClr val="FFFFFF"/>
                </a:solidFill>
                <a:latin typeface="Inter"/>
              </a:rPr>
              <a:t>Quản lý dòng tiền cá nhân khoa học trong nền kinh tế số đầy cạm bẫy tiêu dùng.</a:t>
            </a:r>
          </a:p>
          <a:p>
            <a:pPr>
              <a:spcAft>
                <a:spcPts val="1400"/>
              </a:spcAft>
            </a:pPr>
            <a:r>
              <a:rPr sz="1600" b="1">
                <a:solidFill>
                  <a:srgbClr val="10B981"/>
                </a:solidFill>
                <a:latin typeface="Inter"/>
              </a:rPr>
              <a:t>Hạn chế phần mềm hiện tại: </a:t>
            </a:r>
            <a:r>
              <a:rPr sz="1600">
                <a:solidFill>
                  <a:srgbClr val="FFFFFF"/>
                </a:solidFill>
                <a:latin typeface="Inter"/>
              </a:rPr>
              <a:t>Đa số chỉ ghi chép thủ công tẻ nhạt, thiếu tính tương tác động và không đưa ra giải pháp.</a:t>
            </a:r>
          </a:p>
          <a:p>
            <a:pPr>
              <a:spcAft>
                <a:spcPts val="1400"/>
              </a:spcAft>
            </a:pPr>
            <a:r>
              <a:rPr sz="1600" b="1">
                <a:solidFill>
                  <a:srgbClr val="10B981"/>
                </a:solidFill>
                <a:latin typeface="Inter"/>
              </a:rPr>
              <a:t>Cơ hội công nghệ: </a:t>
            </a:r>
            <a:r>
              <a:rPr sz="1600">
                <a:solidFill>
                  <a:srgbClr val="FFFFFF"/>
                </a:solidFill>
                <a:latin typeface="Inter"/>
              </a:rPr>
              <a:t>Ứng dụng AI/ML để phân tích sâu hành vi tiêu dùng, phát hiện bất thường và tối ưu ngân sách tự động.</a:t>
            </a:r>
          </a:p>
          <a:p>
            <a:pPr>
              <a:spcAft>
                <a:spcPts val="1400"/>
              </a:spcAft>
            </a:pPr>
            <a:r>
              <a:rPr sz="1600" b="1">
                <a:solidFill>
                  <a:srgbClr val="10B981"/>
                </a:solidFill>
                <a:latin typeface="Inter"/>
              </a:rPr>
              <a:t>Tính thực tiễn cao: </a:t>
            </a:r>
            <a:r>
              <a:rPr sz="1600">
                <a:solidFill>
                  <a:srgbClr val="FFFFFF"/>
                </a:solidFill>
                <a:latin typeface="Inter"/>
              </a:rPr>
              <a:t>Sự tích hợp giữa chuẩn quản trị tài chính quốc tế (50/30/20) với nền tảng Web/Mobile tinh tế.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2. MỤC TIÊU &amp; PHẠM VI ĐỀ TÀI</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5303520" cy="4572000"/>
          </a:xfrm>
          <a:prstGeom prst="rect">
            <a:avLst/>
          </a:prstGeom>
          <a:noFill/>
        </p:spPr>
        <p:txBody>
          <a:bodyPr wrap="square">
            <a:spAutoFit/>
          </a:bodyPr>
          <a:lstStyle/>
          <a:p>
            <a:pPr>
              <a:spcAft>
                <a:spcPts val="1200"/>
              </a:spcAft>
              <a:defRPr sz="1800" b="1">
                <a:solidFill>
                  <a:srgbClr val="6366F1"/>
                </a:solidFill>
                <a:latin typeface="Outfit"/>
              </a:defRPr>
            </a:pPr>
            <a:r>
              <a:t>MỤC TIÊU NGHIÊN CỨU</a:t>
            </a:r>
          </a:p>
          <a:p>
            <a:pPr>
              <a:spcAft>
                <a:spcPts val="800"/>
              </a:spcAft>
            </a:pPr>
            <a:r>
              <a:rPr sz="1400">
                <a:solidFill>
                  <a:srgbClr val="FFFFFF"/>
                </a:solidFill>
                <a:latin typeface="Inter"/>
              </a:rPr>
              <a:t>• Xây dựng ứng dụng quản lý thu chi tiện dụng, trực quan.</a:t>
            </a:r>
          </a:p>
          <a:p>
            <a:pPr>
              <a:spcAft>
                <a:spcPts val="800"/>
              </a:spcAft>
            </a:pPr>
            <a:r>
              <a:rPr sz="1400">
                <a:solidFill>
                  <a:srgbClr val="FFFFFF"/>
                </a:solidFill>
                <a:latin typeface="Inter"/>
              </a:rPr>
              <a:t>• Tích hợp tự động quy tắc phân bổ tài chính 50/30/20.</a:t>
            </a:r>
          </a:p>
          <a:p>
            <a:pPr>
              <a:spcAft>
                <a:spcPts val="800"/>
              </a:spcAft>
            </a:pPr>
            <a:r>
              <a:rPr sz="1400">
                <a:solidFill>
                  <a:srgbClr val="FFFFFF"/>
                </a:solidFill>
                <a:latin typeface="Inter"/>
              </a:rPr>
              <a:t>• Phát hiện giao dịch chi tiêu bất thường dựa trên học máy.</a:t>
            </a:r>
          </a:p>
          <a:p>
            <a:pPr>
              <a:spcAft>
                <a:spcPts val="800"/>
              </a:spcAft>
            </a:pPr>
            <a:r>
              <a:rPr sz="1400">
                <a:solidFill>
                  <a:srgbClr val="FFFFFF"/>
                </a:solidFill>
                <a:latin typeface="Inter"/>
              </a:rPr>
              <a:t>• Dự báo chính xác xu hướng chi tiêu tháng tiếp theo.</a:t>
            </a:r>
          </a:p>
        </p:txBody>
      </p:sp>
      <p:sp>
        <p:nvSpPr>
          <p:cNvPr id="6" name="TextBox 5"/>
          <p:cNvSpPr txBox="1"/>
          <p:nvPr/>
        </p:nvSpPr>
        <p:spPr>
          <a:xfrm>
            <a:off x="6217920" y="1645920"/>
            <a:ext cx="5303520" cy="4572000"/>
          </a:xfrm>
          <a:prstGeom prst="rect">
            <a:avLst/>
          </a:prstGeom>
          <a:noFill/>
        </p:spPr>
        <p:txBody>
          <a:bodyPr wrap="square">
            <a:spAutoFit/>
          </a:bodyPr>
          <a:lstStyle/>
          <a:p>
            <a:pPr>
              <a:spcAft>
                <a:spcPts val="1200"/>
              </a:spcAft>
              <a:defRPr sz="1800" b="1">
                <a:solidFill>
                  <a:srgbClr val="6366F1"/>
                </a:solidFill>
                <a:latin typeface="Outfit"/>
              </a:defRPr>
            </a:pPr>
            <a:r>
              <a:t>PHẠM VI THỰC HIỆN</a:t>
            </a:r>
          </a:p>
          <a:p>
            <a:pPr>
              <a:spcAft>
                <a:spcPts val="800"/>
              </a:spcAft>
            </a:pPr>
            <a:r>
              <a:rPr sz="1400">
                <a:solidFill>
                  <a:srgbClr val="FFFFFF"/>
                </a:solidFill>
                <a:latin typeface="Inter"/>
              </a:rPr>
              <a:t>• Hệ thống Web Responsive tương thích đa thiết bị.</a:t>
            </a:r>
          </a:p>
          <a:p>
            <a:pPr>
              <a:spcAft>
                <a:spcPts val="800"/>
              </a:spcAft>
            </a:pPr>
            <a:r>
              <a:rPr sz="1400">
                <a:solidFill>
                  <a:srgbClr val="FFFFFF"/>
                </a:solidFill>
                <a:latin typeface="Inter"/>
              </a:rPr>
              <a:t>• Backend RESTful API Flask an toàn, bảo mật cao.</a:t>
            </a:r>
          </a:p>
          <a:p>
            <a:pPr>
              <a:spcAft>
                <a:spcPts val="800"/>
              </a:spcAft>
            </a:pPr>
            <a:r>
              <a:rPr sz="1400">
                <a:solidFill>
                  <a:srgbClr val="FFFFFF"/>
                </a:solidFill>
                <a:latin typeface="Inter"/>
              </a:rPr>
              <a:t>• Đóng gói giải pháp di động lai Android/iOS bằng CapacitorJS.</a:t>
            </a:r>
          </a:p>
          <a:p>
            <a:pPr>
              <a:spcAft>
                <a:spcPts val="800"/>
              </a:spcAft>
            </a:pPr>
            <a:r>
              <a:rPr sz="1400">
                <a:solidFill>
                  <a:srgbClr val="FFFFFF"/>
                </a:solidFill>
                <a:latin typeface="Inter"/>
              </a:rPr>
              <a:t>• Phân tích dữ liệu giả lập thực tế đạt tính khả thi cao.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3. KIẾN TRÚC CÔNG NGHỆ SỬ DỤNG</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3474720" cy="411480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600"/>
              </a:spcAft>
              <a:defRPr sz="1800" b="1">
                <a:solidFill>
                  <a:srgbClr val="10B981"/>
                </a:solidFill>
                <a:latin typeface="Outfit"/>
              </a:defRPr>
            </a:pPr>
            <a:r>
              <a:t>FRONTEND</a:t>
            </a:r>
          </a:p>
          <a:p>
            <a:pPr algn="l">
              <a:spcAft>
                <a:spcPts val="1000"/>
              </a:spcAft>
            </a:pPr>
            <a:r>
              <a:rPr sz="1300">
                <a:solidFill>
                  <a:srgbClr val="FFFFFF"/>
                </a:solidFill>
                <a:latin typeface="Inter"/>
              </a:rPr>
              <a:t>✔ ReactJS Library</a:t>
            </a:r>
          </a:p>
          <a:p>
            <a:pPr algn="l">
              <a:spcAft>
                <a:spcPts val="1000"/>
              </a:spcAft>
            </a:pPr>
            <a:r>
              <a:rPr sz="1300">
                <a:solidFill>
                  <a:srgbClr val="FFFFFF"/>
                </a:solidFill>
                <a:latin typeface="Inter"/>
              </a:rPr>
              <a:t>✔ TailwindCSS Utility Framework</a:t>
            </a:r>
          </a:p>
          <a:p>
            <a:pPr algn="l">
              <a:spcAft>
                <a:spcPts val="1000"/>
              </a:spcAft>
            </a:pPr>
            <a:r>
              <a:rPr sz="1300">
                <a:solidFill>
                  <a:srgbClr val="FFFFFF"/>
                </a:solidFill>
                <a:latin typeface="Inter"/>
              </a:rPr>
              <a:t>✔ Chart.js Visual Graphics</a:t>
            </a:r>
          </a:p>
          <a:p>
            <a:pPr algn="l">
              <a:spcAft>
                <a:spcPts val="1000"/>
              </a:spcAft>
            </a:pPr>
            <a:r>
              <a:rPr sz="1300">
                <a:solidFill>
                  <a:srgbClr val="FFFFFF"/>
                </a:solidFill>
                <a:latin typeface="Inter"/>
              </a:rPr>
              <a:t>✔ Axios HTTP Client</a:t>
            </a:r>
          </a:p>
        </p:txBody>
      </p:sp>
      <p:sp>
        <p:nvSpPr>
          <p:cNvPr id="6" name="Rounded Rectangle 5"/>
          <p:cNvSpPr/>
          <p:nvPr/>
        </p:nvSpPr>
        <p:spPr>
          <a:xfrm>
            <a:off x="4297679" y="1645920"/>
            <a:ext cx="3474720" cy="411480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600"/>
              </a:spcAft>
              <a:defRPr sz="1800" b="1">
                <a:solidFill>
                  <a:srgbClr val="10B981"/>
                </a:solidFill>
                <a:latin typeface="Outfit"/>
              </a:defRPr>
            </a:pPr>
            <a:r>
              <a:t>BACKEND</a:t>
            </a:r>
          </a:p>
          <a:p>
            <a:pPr algn="l">
              <a:spcAft>
                <a:spcPts val="1000"/>
              </a:spcAft>
            </a:pPr>
            <a:r>
              <a:rPr sz="1300">
                <a:solidFill>
                  <a:srgbClr val="FFFFFF"/>
                </a:solidFill>
                <a:latin typeface="Inter"/>
              </a:rPr>
              <a:t>✔ Flask (Python)</a:t>
            </a:r>
          </a:p>
          <a:p>
            <a:pPr algn="l">
              <a:spcAft>
                <a:spcPts val="1000"/>
              </a:spcAft>
            </a:pPr>
            <a:r>
              <a:rPr sz="1300">
                <a:solidFill>
                  <a:srgbClr val="FFFFFF"/>
                </a:solidFill>
                <a:latin typeface="Inter"/>
              </a:rPr>
              <a:t>✔ RESTful API Architecture</a:t>
            </a:r>
          </a:p>
          <a:p>
            <a:pPr algn="l">
              <a:spcAft>
                <a:spcPts val="1000"/>
              </a:spcAft>
            </a:pPr>
            <a:r>
              <a:rPr sz="1300">
                <a:solidFill>
                  <a:srgbClr val="FFFFFF"/>
                </a:solidFill>
                <a:latin typeface="Inter"/>
              </a:rPr>
              <a:t>✔ SQLAlchemy ORM Layer</a:t>
            </a:r>
          </a:p>
          <a:p>
            <a:pPr algn="l">
              <a:spcAft>
                <a:spcPts val="1000"/>
              </a:spcAft>
            </a:pPr>
            <a:r>
              <a:rPr sz="1300">
                <a:solidFill>
                  <a:srgbClr val="FFFFFF"/>
                </a:solidFill>
                <a:latin typeface="Inter"/>
              </a:rPr>
              <a:t>✔ PyJWT Security</a:t>
            </a:r>
          </a:p>
        </p:txBody>
      </p:sp>
      <p:sp>
        <p:nvSpPr>
          <p:cNvPr id="7" name="Rounded Rectangle 6"/>
          <p:cNvSpPr/>
          <p:nvPr/>
        </p:nvSpPr>
        <p:spPr>
          <a:xfrm>
            <a:off x="8046719" y="1645920"/>
            <a:ext cx="3474720" cy="411480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600"/>
              </a:spcAft>
              <a:defRPr sz="1800" b="1">
                <a:solidFill>
                  <a:srgbClr val="10B981"/>
                </a:solidFill>
                <a:latin typeface="Outfit"/>
              </a:defRPr>
            </a:pPr>
            <a:r>
              <a:t>DATA &amp; AI</a:t>
            </a:r>
          </a:p>
          <a:p>
            <a:pPr algn="l">
              <a:spcAft>
                <a:spcPts val="1000"/>
              </a:spcAft>
            </a:pPr>
            <a:r>
              <a:rPr sz="1300">
                <a:solidFill>
                  <a:srgbClr val="FFFFFF"/>
                </a:solidFill>
                <a:latin typeface="Inter"/>
              </a:rPr>
              <a:t>✔ SQLite Database file</a:t>
            </a:r>
          </a:p>
          <a:p>
            <a:pPr algn="l">
              <a:spcAft>
                <a:spcPts val="1000"/>
              </a:spcAft>
            </a:pPr>
            <a:r>
              <a:rPr sz="1300">
                <a:solidFill>
                  <a:srgbClr val="FFFFFF"/>
                </a:solidFill>
                <a:latin typeface="Inter"/>
              </a:rPr>
              <a:t>✔ Pandas DataFrames</a:t>
            </a:r>
          </a:p>
          <a:p>
            <a:pPr algn="l">
              <a:spcAft>
                <a:spcPts val="1000"/>
              </a:spcAft>
            </a:pPr>
            <a:r>
              <a:rPr sz="1300">
                <a:solidFill>
                  <a:srgbClr val="FFFFFF"/>
                </a:solidFill>
                <a:latin typeface="Inter"/>
              </a:rPr>
              <a:t>✔ Numpy Calculations</a:t>
            </a:r>
          </a:p>
          <a:p>
            <a:pPr algn="l">
              <a:spcAft>
                <a:spcPts val="1000"/>
              </a:spcAft>
            </a:pPr>
            <a:r>
              <a:rPr sz="1300">
                <a:solidFill>
                  <a:srgbClr val="FFFFFF"/>
                </a:solidFill>
                <a:latin typeface="Inter"/>
              </a:rPr>
              <a:t>✔ CapacitorJS Mobile Bridge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4. THIẾT KẾ CƠ SỞ DỮ LIỆU (ERD SCHEMA)</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0972800" cy="4572000"/>
          </a:xfrm>
          <a:prstGeom prst="rect">
            <a:avLst/>
          </a:prstGeom>
          <a:noFill/>
        </p:spPr>
        <p:txBody>
          <a:bodyPr wrap="square">
            <a:spAutoFit/>
          </a:bodyPr>
          <a:lstStyle/>
          <a:p>
            <a:pPr>
              <a:spcAft>
                <a:spcPts val="1400"/>
              </a:spcAft>
              <a:defRPr sz="1600" b="1">
                <a:solidFill>
                  <a:srgbClr val="FFFFFF"/>
                </a:solidFill>
                <a:latin typeface="Inter"/>
              </a:defRPr>
            </a:pPr>
            <a:r>
              <a:t>Mối Quan Hệ Giữa Các Thực Thể Trong Cơ Sở Dữ Liệu SQLite (3NF):</a:t>
            </a:r>
          </a:p>
          <a:p>
            <a:pPr>
              <a:spcAft>
                <a:spcPts val="1000"/>
              </a:spcAft>
            </a:pPr>
            <a:r>
              <a:rPr sz="1400" b="1">
                <a:solidFill>
                  <a:srgbClr val="6366F1"/>
                </a:solidFill>
                <a:latin typeface="Inter"/>
              </a:rPr>
              <a:t>• USER (1) &lt;---&gt; (N) TRANSACTION: </a:t>
            </a:r>
            <a:r>
              <a:rPr sz="1400">
                <a:solidFill>
                  <a:srgbClr val="FFFFFF"/>
                </a:solidFill>
                <a:latin typeface="Inter"/>
              </a:rPr>
              <a:t>Một người dùng sở hữu nhiều giao dịch thu/chi.</a:t>
            </a:r>
          </a:p>
          <a:p>
            <a:pPr>
              <a:spcAft>
                <a:spcPts val="1000"/>
              </a:spcAft>
            </a:pPr>
            <a:r>
              <a:rPr sz="1400" b="1">
                <a:solidFill>
                  <a:srgbClr val="6366F1"/>
                </a:solidFill>
                <a:latin typeface="Inter"/>
              </a:rPr>
              <a:t>• USER (1) &lt;---&gt; (N) BUDGET: </a:t>
            </a:r>
            <a:r>
              <a:rPr sz="1400">
                <a:solidFill>
                  <a:srgbClr val="FFFFFF"/>
                </a:solidFill>
                <a:latin typeface="Inter"/>
              </a:rPr>
              <a:t>Một người dùng thiết lập nhiều hạn mức ngân sách.</a:t>
            </a:r>
          </a:p>
          <a:p>
            <a:pPr>
              <a:spcAft>
                <a:spcPts val="1000"/>
              </a:spcAft>
            </a:pPr>
            <a:r>
              <a:rPr sz="1400" b="1">
                <a:solidFill>
                  <a:srgbClr val="6366F1"/>
                </a:solidFill>
                <a:latin typeface="Inter"/>
              </a:rPr>
              <a:t>• CATEGORY (1) &lt;---&gt; (N) TRANSACTION: </a:t>
            </a:r>
            <a:r>
              <a:rPr sz="1400">
                <a:solidFill>
                  <a:srgbClr val="FFFFFF"/>
                </a:solidFill>
                <a:latin typeface="Inter"/>
              </a:rPr>
              <a:t>Một danh mục phân loại chứa nhiều giao dịch.</a:t>
            </a:r>
          </a:p>
          <a:p>
            <a:pPr>
              <a:spcAft>
                <a:spcPts val="1000"/>
              </a:spcAft>
            </a:pPr>
            <a:r>
              <a:rPr sz="1400" b="1">
                <a:solidFill>
                  <a:srgbClr val="6366F1"/>
                </a:solidFill>
                <a:latin typeface="Inter"/>
              </a:rPr>
              <a:t>• CATEGORY (1) &lt;---&gt; (N) BUDGET: </a:t>
            </a:r>
            <a:r>
              <a:rPr sz="1400">
                <a:solidFill>
                  <a:srgbClr val="FFFFFF"/>
                </a:solidFill>
                <a:latin typeface="Inter"/>
              </a:rPr>
              <a:t>Một danh mục liên kết với một hạn mức ngân sách theo tháng.</a:t>
            </a:r>
          </a:p>
          <a:p>
            <a:pPr>
              <a:spcAft>
                <a:spcPts val="1000"/>
              </a:spcAft>
            </a:pPr>
            <a:r>
              <a:rPr sz="1400" b="1">
                <a:solidFill>
                  <a:srgbClr val="6366F1"/>
                </a:solidFill>
                <a:latin typeface="Inter"/>
              </a:rPr>
              <a:t>• GLOBAL CATEGORIES: </a:t>
            </a:r>
            <a:r>
              <a:rPr sz="1400">
                <a:solidFill>
                  <a:srgbClr val="FFFFFF"/>
                </a:solidFill>
                <a:latin typeface="Inter"/>
              </a:rPr>
              <a:t>Hỗ trợ các danh mục chung có user_id là NULL giúp người dùng sử dụng ngay lập tức.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5. ĐỘNG CƠ AI PHÂN BỔ 50/30/20 &amp; TÁI CƠ CẤU</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03520" cy="411480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600"/>
              </a:spcAft>
              <a:defRPr sz="1600" b="1">
                <a:solidFill>
                  <a:srgbClr val="10B981"/>
                </a:solidFill>
                <a:latin typeface="Outfit"/>
              </a:defRPr>
            </a:pPr>
            <a:r>
              <a:t>QUY TẮC PHÂN BỔ 50/30/20 CHUẨN</a:t>
            </a:r>
          </a:p>
          <a:p>
            <a:pPr>
              <a:spcAft>
                <a:spcPts val="1200"/>
              </a:spcAft>
            </a:pPr>
            <a:r>
              <a:rPr sz="1300">
                <a:solidFill>
                  <a:srgbClr val="FFFFFF"/>
                </a:solidFill>
                <a:latin typeface="Inter"/>
              </a:rPr>
              <a:t>✔ Needs (50%): Chi tiêu thiết yếu (Nhà, điện nước, ăn uống cơ bản).</a:t>
            </a:r>
          </a:p>
          <a:p>
            <a:pPr>
              <a:spcAft>
                <a:spcPts val="1200"/>
              </a:spcAft>
            </a:pPr>
            <a:r>
              <a:rPr sz="1300">
                <a:solidFill>
                  <a:srgbClr val="FFFFFF"/>
                </a:solidFill>
                <a:latin typeface="Inter"/>
              </a:rPr>
              <a:t>✔ Wants (30%): Chi tiêu phong cách sống (Mua sắm, xem phim, ăn hàng).</a:t>
            </a:r>
          </a:p>
          <a:p>
            <a:pPr>
              <a:spcAft>
                <a:spcPts val="1200"/>
              </a:spcAft>
            </a:pPr>
            <a:r>
              <a:rPr sz="1300">
                <a:solidFill>
                  <a:srgbClr val="FFFFFF"/>
                </a:solidFill>
                <a:latin typeface="Inter"/>
              </a:rPr>
              <a:t>✔ Savings (20%): Tích lũy, đầu tư, lập quỹ khẩn cấp.</a:t>
            </a:r>
          </a:p>
        </p:txBody>
      </p:sp>
      <p:sp>
        <p:nvSpPr>
          <p:cNvPr id="6" name="Rounded Rectangle 5"/>
          <p:cNvSpPr/>
          <p:nvPr/>
        </p:nvSpPr>
        <p:spPr>
          <a:xfrm>
            <a:off x="6217920" y="1645920"/>
            <a:ext cx="5303520" cy="411480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600"/>
              </a:spcAft>
              <a:defRPr sz="1600" b="1">
                <a:solidFill>
                  <a:srgbClr val="6366F1"/>
                </a:solidFill>
                <a:latin typeface="Outfit"/>
              </a:defRPr>
            </a:pPr>
            <a:r>
              <a:t>GIẢI PHÁP TÁI CƠ CẤU TỰ ĐỘNG TỪ AI</a:t>
            </a:r>
          </a:p>
          <a:p>
            <a:pPr>
              <a:spcAft>
                <a:spcPts val="1200"/>
              </a:spcAft>
            </a:pPr>
            <a:r>
              <a:rPr sz="1300">
                <a:solidFill>
                  <a:srgbClr val="FFFFFF"/>
                </a:solidFill>
                <a:latin typeface="Inter"/>
              </a:rPr>
              <a:t>★ Phân loại tự động: Dựa vào từ khóa giao dịch thông minh.</a:t>
            </a:r>
          </a:p>
          <a:p>
            <a:pPr>
              <a:spcAft>
                <a:spcPts val="1200"/>
              </a:spcAft>
            </a:pPr>
            <a:r>
              <a:rPr sz="1300">
                <a:solidFill>
                  <a:srgbClr val="FFFFFF"/>
                </a:solidFill>
                <a:latin typeface="Inter"/>
              </a:rPr>
              <a:t>★ Tính toán thâm hụt: Chỉ ra chính xác Needs/Wants đang vượt ngưỡng.</a:t>
            </a:r>
          </a:p>
          <a:p>
            <a:pPr>
              <a:spcAft>
                <a:spcPts val="1200"/>
              </a:spcAft>
            </a:pPr>
            <a:r>
              <a:rPr sz="1300">
                <a:solidFill>
                  <a:srgbClr val="FFFFFF"/>
                </a:solidFill>
                <a:latin typeface="Inter"/>
              </a:rPr>
              <a:t>★ Đề xuất hành động: Đưa ra con số cụ thể cần cắt giảm từng danh mục.</a:t>
            </a:r>
          </a:p>
          <a:p>
            <a:pPr>
              <a:spcAft>
                <a:spcPts val="1200"/>
              </a:spcAft>
            </a:pPr>
            <a:r>
              <a:rPr sz="1300">
                <a:solidFill>
                  <a:srgbClr val="FFFFFF"/>
                </a:solidFill>
                <a:latin typeface="Inter"/>
              </a:rPr>
              <a:t>★ Gợi ý tích lũy: Trích lập cụ thể 20% thu nhập ròng vào tiết kiệm.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6. THUẬT TOÁN AI DỰ ĐOÁN &amp; PHÁT HIỆN BẤT THƯỜNG</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0972800" cy="4572000"/>
          </a:xfrm>
          <a:prstGeom prst="rect">
            <a:avLst/>
          </a:prstGeom>
          <a:noFill/>
        </p:spPr>
        <p:txBody>
          <a:bodyPr wrap="square">
            <a:spAutoFit/>
          </a:bodyPr>
          <a:lstStyle/>
          <a:p>
            <a:pPr>
              <a:spcAft>
                <a:spcPts val="1400"/>
              </a:spcAft>
              <a:defRPr sz="1600" b="1">
                <a:solidFill>
                  <a:srgbClr val="FFFFFF"/>
                </a:solidFill>
                <a:latin typeface="Inter"/>
              </a:defRPr>
            </a:pPr>
            <a:r>
              <a:t>Hiện thực hóa Trí tuệ Nhân tạo thông minh qua hai thuật toán cốt lõi:</a:t>
            </a:r>
          </a:p>
          <a:p>
            <a:pPr>
              <a:spcAft>
                <a:spcPts val="1200"/>
              </a:spcAft>
            </a:pPr>
            <a:r>
              <a:rPr sz="1400" b="1">
                <a:solidFill>
                  <a:srgbClr val="10B981"/>
                </a:solidFill>
                <a:latin typeface="Inter"/>
              </a:rPr>
              <a:t>✔ Thuật toán Dự đoán Chi tiêu: </a:t>
            </a:r>
            <a:r>
              <a:rPr sz="1400">
                <a:solidFill>
                  <a:srgbClr val="FFFFFF"/>
                </a:solidFill>
                <a:latin typeface="Inter"/>
              </a:rPr>
              <a:t>Phân tích chuỗi thời gian chi dùng lịch sử. Áp dụng trung bình có trọng số tăng dần cho các tháng gần nhất để dự toán tổng ngân sách tháng tới, giúp lập kế hoạch tài chính chủ động.</a:t>
            </a:r>
          </a:p>
          <a:p>
            <a:pPr>
              <a:spcAft>
                <a:spcPts val="1200"/>
              </a:spcAft>
            </a:pPr>
            <a:r>
              <a:rPr sz="1400" b="1">
                <a:solidFill>
                  <a:srgbClr val="10B981"/>
                </a:solidFill>
                <a:latin typeface="Inter"/>
              </a:rPr>
              <a:t>✔ Thuật toán Phát hiện Bất thường: </a:t>
            </a:r>
            <a:r>
              <a:rPr sz="1400">
                <a:solidFill>
                  <a:srgbClr val="FFFFFF"/>
                </a:solidFill>
                <a:latin typeface="Inter"/>
              </a:rPr>
              <a:t>Áp dụng phương pháp thống kê độ lệch chuẩn (Standard Deviation) kết hợp Z-score. Gắn thẻ ngay lập tức cho các giao dịch vượt ngưỡng tin cậy 1.8 lần độ lệch chuẩn để ngăn chặn chi tiêu quá tay.</a:t>
            </a:r>
          </a:p>
          <a:p>
            <a:pPr>
              <a:spcAft>
                <a:spcPts val="1200"/>
              </a:spcAft>
            </a:pPr>
            <a:r>
              <a:rPr sz="1400" b="1">
                <a:solidFill>
                  <a:srgbClr val="10B981"/>
                </a:solidFill>
                <a:latin typeface="Inter"/>
              </a:rPr>
              <a:t>✔ Cơ chế cảnh báo ngân sách: </a:t>
            </a:r>
            <a:r>
              <a:rPr sz="1400">
                <a:solidFill>
                  <a:srgbClr val="FFFFFF"/>
                </a:solidFill>
                <a:latin typeface="Inter"/>
              </a:rPr>
              <a:t>Giám sát ngân sách thời gian thực ở Backend, tự động gửi cảnh báo về UI khi người dùng tiêu vượt 80% hoặc 100% hạn mức danh mục.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7. KẾT QUẢ THỬ NGHIỆM API CỐT LÕI</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4572000" cy="4572000"/>
          </a:xfrm>
          <a:prstGeom prst="rect">
            <a:avLst/>
          </a:prstGeom>
          <a:noFill/>
        </p:spPr>
        <p:txBody>
          <a:bodyPr wrap="square">
            <a:spAutoFit/>
          </a:bodyPr>
          <a:lstStyle/>
          <a:p>
            <a:pPr>
              <a:spcAft>
                <a:spcPts val="1200"/>
              </a:spcAft>
              <a:defRPr sz="1600" b="1">
                <a:solidFill>
                  <a:srgbClr val="6366F1"/>
                </a:solidFill>
                <a:latin typeface="Outfit"/>
              </a:defRPr>
            </a:pPr>
            <a:r>
              <a:t>THỬ NGHIỆM THỰC TẾ HỆ THỐNG</a:t>
            </a:r>
          </a:p>
          <a:p>
            <a:pPr>
              <a:spcAft>
                <a:spcPts val="1000"/>
              </a:spcAft>
            </a:pPr>
            <a:r>
              <a:rPr sz="1300">
                <a:solidFill>
                  <a:srgbClr val="FFFFFF"/>
                </a:solidFill>
                <a:latin typeface="Inter"/>
              </a:rPr>
              <a:t>• Kiểm thử tích hợp thành công toàn bộ luồng API Backend.</a:t>
            </a:r>
          </a:p>
          <a:p>
            <a:pPr>
              <a:spcAft>
                <a:spcPts val="1000"/>
              </a:spcAft>
            </a:pPr>
            <a:r>
              <a:rPr sz="1300">
                <a:solidFill>
                  <a:srgbClr val="FFFFFF"/>
                </a:solidFill>
                <a:latin typeface="Inter"/>
              </a:rPr>
              <a:t>• Dữ liệu thử nghiệm thực tế: User 'linh' (Thu nhập $19,000, Chi tiêu $100).</a:t>
            </a:r>
          </a:p>
          <a:p>
            <a:pPr>
              <a:spcAft>
                <a:spcPts val="1000"/>
              </a:spcAft>
            </a:pPr>
            <a:r>
              <a:rPr sz="1300">
                <a:solidFill>
                  <a:srgbClr val="FFFFFF"/>
                </a:solidFill>
                <a:latin typeface="Inter"/>
              </a:rPr>
              <a:t>• Thuật toán AI phân loại Needs/Wants chính xác 100%.</a:t>
            </a:r>
          </a:p>
          <a:p>
            <a:pPr>
              <a:spcAft>
                <a:spcPts val="1000"/>
              </a:spcAft>
            </a:pPr>
            <a:r>
              <a:rPr sz="1300">
                <a:solidFill>
                  <a:srgbClr val="FFFFFF"/>
                </a:solidFill>
                <a:latin typeface="Inter"/>
              </a:rPr>
              <a:t>• Mô hình dự báo chi tiêu chuỗi thời gian hoạt động mượt mà.</a:t>
            </a:r>
          </a:p>
        </p:txBody>
      </p:sp>
      <p:sp>
        <p:nvSpPr>
          <p:cNvPr id="6" name="Rounded Rectangle 5"/>
          <p:cNvSpPr/>
          <p:nvPr/>
        </p:nvSpPr>
        <p:spPr>
          <a:xfrm>
            <a:off x="5486400" y="1645920"/>
            <a:ext cx="6217920" cy="411480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100" b="1">
                <a:solidFill>
                  <a:srgbClr val="10B981"/>
                </a:solidFill>
                <a:latin typeface="Courier New"/>
              </a:defRPr>
            </a:pPr>
            <a:r>
              <a:t>OUTPUT KẾT QUẢ PHÂN TÍCH AI (RESTful JSON)</a:t>
            </a:r>
          </a:p>
          <a:p>
            <a:pPr>
              <a:spcAft>
                <a:spcPts val="200"/>
              </a:spcAft>
            </a:pPr>
            <a:r>
              <a:rPr sz="1000">
                <a:solidFill>
                  <a:srgbClr val="FFFFFF"/>
                </a:solidFill>
                <a:latin typeface="Courier New"/>
              </a:rPr>
              <a:t>"recommendations": [</a:t>
            </a:r>
          </a:p>
          <a:p>
            <a:pPr>
              <a:spcAft>
                <a:spcPts val="200"/>
              </a:spcAft>
            </a:pPr>
            <a:r>
              <a:rPr sz="1000">
                <a:solidFill>
                  <a:srgbClr val="FFFFFF"/>
                </a:solidFill>
                <a:latin typeface="Courier New"/>
              </a:rPr>
              <a:t>  {</a:t>
            </a:r>
          </a:p>
          <a:p>
            <a:pPr>
              <a:spcAft>
                <a:spcPts val="200"/>
              </a:spcAft>
            </a:pPr>
            <a:r>
              <a:rPr sz="1000">
                <a:solidFill>
                  <a:srgbClr val="FFFFFF"/>
                </a:solidFill>
                <a:latin typeface="Courier New"/>
              </a:rPr>
              <a:t>    "message": "Excellent budgeting! Your spending matches</a:t>
            </a:r>
          </a:p>
          <a:p>
            <a:pPr>
              <a:spcAft>
                <a:spcPts val="200"/>
              </a:spcAft>
            </a:pPr>
            <a:r>
              <a:rPr sz="1000">
                <a:solidFill>
                  <a:srgbClr val="FFFFFF"/>
                </a:solidFill>
                <a:latin typeface="Courier New"/>
              </a:rPr>
              <a:t>               the 50/30/20 rule... Move your surplus</a:t>
            </a:r>
          </a:p>
          <a:p>
            <a:pPr>
              <a:spcAft>
                <a:spcPts val="200"/>
              </a:spcAft>
            </a:pPr>
            <a:r>
              <a:rPr sz="1000">
                <a:solidFill>
                  <a:srgbClr val="FFFFFF"/>
                </a:solidFill>
                <a:latin typeface="Courier New"/>
              </a:rPr>
              <a:t>               of $18900.00 into automated investments.",</a:t>
            </a:r>
          </a:p>
          <a:p>
            <a:pPr>
              <a:spcAft>
                <a:spcPts val="200"/>
              </a:spcAft>
            </a:pPr>
            <a:r>
              <a:rPr sz="1000">
                <a:solidFill>
                  <a:srgbClr val="FFFFFF"/>
                </a:solidFill>
                <a:latin typeface="Courier New"/>
              </a:rPr>
              <a:t>    "potential_savings": 18900.0</a:t>
            </a:r>
          </a:p>
          <a:p>
            <a:pPr>
              <a:spcAft>
                <a:spcPts val="200"/>
              </a:spcAft>
            </a:pPr>
            <a:r>
              <a:rPr sz="1000">
                <a:solidFill>
                  <a:srgbClr val="FFFFFF"/>
                </a:solidFill>
                <a:latin typeface="Courier New"/>
              </a:rPr>
              <a:t>  }</a:t>
            </a:r>
          </a:p>
          <a:p>
            <a:pPr>
              <a:spcAft>
                <a:spcPts val="200"/>
              </a:spcAft>
            </a:pPr>
            <a:r>
              <a:rPr sz="1000">
                <a:solidFill>
                  <a:srgbClr val="FFFFFF"/>
                </a:solidFill>
                <a:latin typeface="Courier New"/>
              </a:rPr>
              <a:t>],</a:t>
            </a:r>
          </a:p>
          <a:p>
            <a:pPr>
              <a:spcAft>
                <a:spcPts val="200"/>
              </a:spcAft>
            </a:pPr>
            <a:r>
              <a:rPr sz="1000">
                <a:solidFill>
                  <a:srgbClr val="FFFFFF"/>
                </a:solidFill>
                <a:latin typeface="Courier New"/>
              </a:rPr>
              <a:t>"prediction": {</a:t>
            </a:r>
          </a:p>
          <a:p>
            <a:pPr>
              <a:spcAft>
                <a:spcPts val="200"/>
              </a:spcAft>
            </a:pPr>
            <a:r>
              <a:rPr sz="1000">
                <a:solidFill>
                  <a:srgbClr val="FFFFFF"/>
                </a:solidFill>
                <a:latin typeface="Courier New"/>
              </a:rPr>
              <a:t>  "predicted_expense": 100.0,</a:t>
            </a:r>
          </a:p>
          <a:p>
            <a:pPr>
              <a:spcAft>
                <a:spcPts val="200"/>
              </a:spcAft>
            </a:pPr>
            <a:r>
              <a:rPr sz="1000">
                <a:solidFill>
                  <a:srgbClr val="FFFFFF"/>
                </a:solidFill>
                <a:latin typeface="Courier New"/>
              </a:rPr>
              <a:t>  "top_category": "Transportation",</a:t>
            </a:r>
          </a:p>
          <a:p>
            <a:pPr>
              <a:spcAft>
                <a:spcPts val="200"/>
              </a:spcAft>
            </a:pPr>
            <a:r>
              <a:rPr sz="1000">
                <a:solidFill>
                  <a:srgbClr val="FFFFFF"/>
                </a:solidFill>
                <a:latin typeface="Courier New"/>
              </a:rPr>
              <a:t>  "top_category_amount": 100.0</a:t>
            </a:r>
          </a:p>
          <a:p>
            <a:pPr>
              <a:spcAft>
                <a:spcPts val="200"/>
              </a:spcAft>
            </a:pPr>
            <a:r>
              <a:rPr sz="1000">
                <a:solidFill>
                  <a:srgbClr val="FFFFFF"/>
                </a:solidFill>
                <a:latin typeface="Courier New"/>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8. TÍCH HỢP DI ĐỘNG ĐA NỀN TẢNG (CAPACITOR)</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0972800" cy="4572000"/>
          </a:xfrm>
          <a:prstGeom prst="rect">
            <a:avLst/>
          </a:prstGeom>
          <a:noFill/>
        </p:spPr>
        <p:txBody>
          <a:bodyPr wrap="square">
            <a:spAutoFit/>
          </a:bodyPr>
          <a:lstStyle/>
          <a:p>
            <a:pPr>
              <a:spcAft>
                <a:spcPts val="1400"/>
              </a:spcAft>
              <a:defRPr sz="1600" b="1">
                <a:solidFill>
                  <a:srgbClr val="FFFFFF"/>
                </a:solidFill>
                <a:latin typeface="Inter"/>
              </a:defRPr>
            </a:pPr>
            <a:r>
              <a:t>Mở rộng hệ thống sang thiết bị di động đa nền tảng Android/iOS:</a:t>
            </a:r>
          </a:p>
          <a:p>
            <a:pPr>
              <a:spcAft>
                <a:spcPts val="1200"/>
              </a:spcAft>
            </a:pPr>
            <a:r>
              <a:rPr sz="1400" b="1">
                <a:solidFill>
                  <a:srgbClr val="6366F1"/>
                </a:solidFill>
                <a:latin typeface="Inter"/>
              </a:rPr>
              <a:t>• Tích hợp CapacitorJS: </a:t>
            </a:r>
            <a:r>
              <a:rPr sz="1400">
                <a:solidFill>
                  <a:srgbClr val="FFFFFF"/>
                </a:solidFill>
                <a:latin typeface="Inter"/>
              </a:rPr>
              <a:t>Sử dụng Capacitor làm cầu nối (bridge) giúp đóng gói toàn bộ thư mục build sản xuất của ReactJS thành ứng dụng Native mà không cần lập trình lại mã nguồn Frontend.</a:t>
            </a:r>
          </a:p>
          <a:p>
            <a:pPr>
              <a:spcAft>
                <a:spcPts val="1200"/>
              </a:spcAft>
            </a:pPr>
            <a:r>
              <a:rPr sz="1400" b="1">
                <a:solidFill>
                  <a:srgbClr val="6366F1"/>
                </a:solidFill>
                <a:latin typeface="Inter"/>
              </a:rPr>
              <a:t>• Biên dịch ứng dụng Android: </a:t>
            </a:r>
            <a:r>
              <a:rPr sz="1400">
                <a:solidFill>
                  <a:srgbClr val="FFFFFF"/>
                </a:solidFill>
                <a:latin typeface="Inter"/>
              </a:rPr>
              <a:t>Chỉ với các lệnh đơn giản (npm run build -&gt; npx cap add android -&gt; npx cap copy -&gt; npx cap open android), mã nguồn được import trực tiếp vào Android Studio và sẵn sàng xuất file APK.</a:t>
            </a:r>
          </a:p>
          <a:p>
            <a:pPr>
              <a:spcAft>
                <a:spcPts val="1200"/>
              </a:spcAft>
            </a:pPr>
            <a:r>
              <a:rPr sz="1400" b="1">
                <a:solidFill>
                  <a:srgbClr val="6366F1"/>
                </a:solidFill>
                <a:latin typeface="Inter"/>
              </a:rPr>
              <a:t>• Giá trị thực tiễn: </a:t>
            </a:r>
            <a:r>
              <a:rPr sz="1400">
                <a:solidFill>
                  <a:srgbClr val="FFFFFF"/>
                </a:solidFill>
                <a:latin typeface="Inter"/>
              </a:rPr>
              <a:t>Giải pháp giúp tăng khả năng tiếp cận người dùng đa nền tảng, tiết kiệm chi phí và thời gian phát triển tối ưu.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defRPr sz="2800" b="1">
                <a:solidFill>
                  <a:srgbClr val="FFFFFF"/>
                </a:solidFill>
                <a:latin typeface="Outfit"/>
              </a:defRPr>
            </a:pPr>
            <a:r>
              <a:t>9. TỔNG KẾT &amp; ĐỊNH HƯỚNG PHÁT TRIỂN</a:t>
            </a:r>
          </a:p>
        </p:txBody>
      </p:sp>
      <p:sp>
        <p:nvSpPr>
          <p:cNvPr id="4" name="Rectangle 3"/>
          <p:cNvSpPr/>
          <p:nvPr/>
        </p:nvSpPr>
        <p:spPr>
          <a:xfrm>
            <a:off x="548640" y="1097280"/>
            <a:ext cx="2743200" cy="54864"/>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03520" cy="411480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600" b="1">
                <a:solidFill>
                  <a:srgbClr val="10B981"/>
                </a:solidFill>
                <a:latin typeface="Outfit"/>
              </a:defRPr>
            </a:pPr>
            <a:r>
              <a:t>KẾT QUẢ ĐÃ ĐẠT ĐƯỢC</a:t>
            </a:r>
          </a:p>
          <a:p>
            <a:pPr>
              <a:spcAft>
                <a:spcPts val="800"/>
              </a:spcAft>
            </a:pPr>
            <a:r>
              <a:rPr sz="1300">
                <a:solidFill>
                  <a:srgbClr val="FFFFFF"/>
                </a:solidFill>
                <a:latin typeface="Inter"/>
              </a:rPr>
              <a:t>✔ Hệ thống Client-Server hoàn chỉnh chạy mượt mà.</a:t>
            </a:r>
          </a:p>
          <a:p>
            <a:pPr>
              <a:spcAft>
                <a:spcPts val="800"/>
              </a:spcAft>
            </a:pPr>
            <a:r>
              <a:rPr sz="1300">
                <a:solidFill>
                  <a:srgbClr val="FFFFFF"/>
                </a:solidFill>
                <a:latin typeface="Inter"/>
              </a:rPr>
              <a:t>✔ Module AI gợi ý 50/30/20 và dự đoán hoạt động chính xác.</a:t>
            </a:r>
          </a:p>
          <a:p>
            <a:pPr>
              <a:spcAft>
                <a:spcPts val="800"/>
              </a:spcAft>
            </a:pPr>
            <a:r>
              <a:rPr sz="1300">
                <a:solidFill>
                  <a:srgbClr val="FFFFFF"/>
                </a:solidFill>
                <a:latin typeface="Inter"/>
              </a:rPr>
              <a:t>✔ Giao diện trực quan hóa sinh động bằng Chart.js.</a:t>
            </a:r>
          </a:p>
          <a:p>
            <a:pPr>
              <a:spcAft>
                <a:spcPts val="800"/>
              </a:spcAft>
            </a:pPr>
            <a:r>
              <a:rPr sz="1300">
                <a:solidFill>
                  <a:srgbClr val="FFFFFF"/>
                </a:solidFill>
                <a:latin typeface="Inter"/>
              </a:rPr>
              <a:t>✔ Tích hợp CapacitorJS mở rộng thành công sang Mobile.</a:t>
            </a:r>
          </a:p>
        </p:txBody>
      </p:sp>
      <p:sp>
        <p:nvSpPr>
          <p:cNvPr id="6" name="Rounded Rectangle 5"/>
          <p:cNvSpPr/>
          <p:nvPr/>
        </p:nvSpPr>
        <p:spPr>
          <a:xfrm>
            <a:off x="6217920" y="1645920"/>
            <a:ext cx="5303520" cy="411480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600" b="1">
                <a:solidFill>
                  <a:srgbClr val="6366F1"/>
                </a:solidFill>
                <a:latin typeface="Outfit"/>
              </a:defRPr>
            </a:pPr>
            <a:r>
              <a:t>ĐỊNH HƯỚNG PHÁT TRIỂN TƯƠNG LAI</a:t>
            </a:r>
          </a:p>
          <a:p>
            <a:pPr>
              <a:spcAft>
                <a:spcPts val="800"/>
              </a:spcAft>
            </a:pPr>
            <a:r>
              <a:rPr sz="1300">
                <a:solidFill>
                  <a:srgbClr val="FFFFFF"/>
                </a:solidFill>
                <a:latin typeface="Inter"/>
              </a:rPr>
              <a:t>★ Tích hợp các mô hình ngôn ngữ lớn LLMs (Generative AI).</a:t>
            </a:r>
          </a:p>
          <a:p>
            <a:pPr>
              <a:spcAft>
                <a:spcPts val="800"/>
              </a:spcAft>
            </a:pPr>
            <a:r>
              <a:rPr sz="1300">
                <a:solidFill>
                  <a:srgbClr val="FFFFFF"/>
                </a:solidFill>
                <a:latin typeface="Inter"/>
              </a:rPr>
              <a:t>★ Trợ lý ảo hỗ trợ hội thoại trực tiếp bằng giọng nói.</a:t>
            </a:r>
          </a:p>
          <a:p>
            <a:pPr>
              <a:spcAft>
                <a:spcPts val="800"/>
              </a:spcAft>
            </a:pPr>
            <a:r>
              <a:rPr sz="1300">
                <a:solidFill>
                  <a:srgbClr val="FFFFFF"/>
                </a:solidFill>
                <a:latin typeface="Inter"/>
              </a:rPr>
              <a:t>★ Ứng dụng công nghệ đọc tự động hóa đơn bằng camera (OCR).</a:t>
            </a:r>
          </a:p>
          <a:p>
            <a:pPr>
              <a:spcAft>
                <a:spcPts val="800"/>
              </a:spcAft>
            </a:pPr>
            <a:r>
              <a:rPr sz="1300">
                <a:solidFill>
                  <a:srgbClr val="FFFFFF"/>
                </a:solidFill>
                <a:latin typeface="Inter"/>
              </a:rPr>
              <a:t>★ Tự động kết nối ngân hàng để đồng bộ số dư thời gian thực.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531352" cy="2743200"/>
          </a:xfrm>
          <a:prstGeom prst="rect">
            <a:avLst/>
          </a:prstGeom>
          <a:noFill/>
        </p:spPr>
        <p:txBody>
          <a:bodyPr wrap="square">
            <a:spAutoFit/>
          </a:bodyPr>
          <a:lstStyle/>
          <a:p>
            <a:pPr algn="ctr">
              <a:spcAft>
                <a:spcPts val="1400"/>
              </a:spcAft>
              <a:defRPr sz="4800" b="1">
                <a:solidFill>
                  <a:srgbClr val="10B981"/>
                </a:solidFill>
                <a:latin typeface="Outfit"/>
              </a:defRPr>
            </a:pPr>
            <a:r>
              <a:t>XIN CHÂN THÀNH CẢM ƠN!</a:t>
            </a:r>
          </a:p>
          <a:p>
            <a:pPr algn="ctr">
              <a:defRPr sz="1800">
                <a:solidFill>
                  <a:srgbClr val="FFFFFF"/>
                </a:solidFill>
                <a:latin typeface="Inter"/>
              </a:defRPr>
            </a:pPr>
            <a:r>
              <a:t>Kính mong nhận được ý kiến đóng góp từ Hội đồng phản biện để đề tài ngày càng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